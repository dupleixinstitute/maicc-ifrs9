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DUPLEIX</a:t>
            </a:r>
            <a:r>
              <a:rPr sz="2300" b="1">
                <a:solidFill>
                  <a:srgbClr val="FFFFFF"/>
                </a:solidFill>
                <a:latin typeface="Calibri"/>
              </a:rPr>
              <a:t> INSTITUTE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0617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Risk  |  Strategy  |  Data Analytics</a:t>
            </a:r>
          </a:p>
        </p:txBody>
      </p:sp>
      <p:sp>
        <p:nvSpPr>
          <p:cNvPr id="7" name="Oval 6"/>
          <p:cNvSpPr/>
          <p:nvPr/>
        </p:nvSpPr>
        <p:spPr>
          <a:xfrm rot="1500000">
            <a:off x="7894015" y="594360"/>
            <a:ext cx="292608" cy="38404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94015" y="978408"/>
            <a:ext cx="502920" cy="6400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94015" y="1051560"/>
            <a:ext cx="502920" cy="54864"/>
          </a:xfrm>
          <a:prstGeom prst="roundRect">
            <a:avLst/>
          </a:prstGeom>
          <a:solidFill>
            <a:srgbClr val="D12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4095" y="61264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MAIIC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095" y="92354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00" b="0">
                <a:solidFill>
                  <a:srgbClr val="FFFFFF"/>
                </a:solidFill>
                <a:latin typeface="Calibri"/>
              </a:rPr>
              <a:t>Malawi Agricultural &amp; Industrial Investment Corporation plc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PROPOSAL &amp; SYSTEM DEMONSTRATION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The Automated IFRS 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Expected Credit Loss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9D2DE"/>
                </a:solidFill>
                <a:latin typeface="Calibri"/>
              </a:rPr>
              <a:t>Prepared for Malawi Agricultural &amp; Industrial Investment Corporation plc (MAIIC)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74920"/>
            <a:ext cx="5120640" cy="36576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Replacing the 8-hour Excel model with a secure, automated, audit-ready platform.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17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Dupleix Institute  ·  Risk | Strategy | Data Analytics  ·  Private &amp;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we will cover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5440680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90472"/>
            <a:ext cx="5166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 case for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Who we are &amp; our 4-year journey with MAIIC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What your independent review found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The true cost of the Excel model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Our solution at a glance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Full IFRS 9 standard compliance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440680" cy="457200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90472"/>
            <a:ext cx="5166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 system, in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1168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The engines: ECL, PD, LGD, FLI, SICR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Stress testing, reports &amp; AI analytics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Security, performance &amp; flexibility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Risk → capability mitigation matrix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Implementation, investment &amp; the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About Dupleix Institute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A specialist </a:t>
            </a:r>
            <a:r>
              <a:rPr sz="1600" b="1">
                <a:solidFill>
                  <a:srgbClr val="1F2937"/>
                </a:solidFill>
                <a:latin typeface="Calibri"/>
              </a:rPr>
              <a:t>Risk, Strategy and Financial Consultancy</a:t>
            </a:r>
            <a:r>
              <a:rPr sz="1600" b="0">
                <a:solidFill>
                  <a:srgbClr val="1F2937"/>
                </a:solidFill>
                <a:latin typeface="Calibri"/>
              </a:rPr>
              <a:t> serving financial institutions and governments across </a:t>
            </a:r>
            <a:r>
              <a:rPr sz="1600" b="1">
                <a:solidFill>
                  <a:srgbClr val="1F2937"/>
                </a:solidFill>
                <a:latin typeface="Calibri"/>
              </a:rPr>
              <a:t>13 African countries</a:t>
            </a:r>
            <a:r>
              <a:rPr sz="16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Practice areas: </a:t>
            </a:r>
            <a:r>
              <a:rPr sz="1600" b="1">
                <a:solidFill>
                  <a:srgbClr val="1F2937"/>
                </a:solidFill>
                <a:latin typeface="Calibri"/>
              </a:rPr>
              <a:t>IFRS 9, credit scoring, pricing, stress testing, business forecasting and capital-management</a:t>
            </a:r>
            <a:r>
              <a:rPr sz="1600" b="0">
                <a:solidFill>
                  <a:srgbClr val="1F2937"/>
                </a:solidFill>
                <a:latin typeface="Calibri"/>
              </a:rPr>
              <a:t> model build &amp; automation.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Certified, case-study masterclasses, FRM tuition, e-learning and boardroom risk facilitation.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 </a:t>
            </a:r>
            <a:r>
              <a:rPr sz="1600" b="1">
                <a:solidFill>
                  <a:srgbClr val="1F2937"/>
                </a:solidFill>
                <a:latin typeface="Calibri"/>
              </a:rPr>
              <a:t>We designed MAIIC's original Excel IFRS 9 model in 2021</a:t>
            </a:r>
            <a:r>
              <a:rPr sz="1600" b="0">
                <a:solidFill>
                  <a:srgbClr val="1F2937"/>
                </a:solidFill>
                <a:latin typeface="Calibri"/>
              </a:rPr>
              <a:t> — we know your methodology end to end.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This platform is the natural, audit-recommended evolution of that work: same trusted logic, automated.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Our 4-year journey with MAIIC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371600"/>
          <a:ext cx="11064238" cy="1947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190"/>
                <a:gridCol w="1813809"/>
                <a:gridCol w="7255239"/>
              </a:tblGrid>
              <a:tr h="38953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54864" marT="27432" marB="27432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Period</a:t>
                      </a:r>
                    </a:p>
                  </a:txBody>
                  <a:tcPr marL="54864" marT="27432" marB="27432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What happened</a:t>
                      </a:r>
                    </a:p>
                  </a:txBody>
                  <a:tcPr marL="54864" marT="27432" marB="27432">
                    <a:solidFill>
                      <a:srgbClr val="0B2545"/>
                    </a:solidFill>
                  </a:tcPr>
                </a:tc>
              </a:tr>
              <a:tr h="38953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</a:rPr>
                        <a:t>Foundational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2021–2022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Dupleix builds MAIIC's Excel IFRS 9 model; S&amp;P transition matrices, arrears-based grading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38953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</a:rPr>
                        <a:t>Internal calibration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2023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Migration to MAIIC's own internally-derived transition matrices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</a:tr>
              <a:tr h="38953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</a:rPr>
                        <a:t>Complexity growth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2024–2025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Ebanker core banking go-live; FinES &amp; Mega Farm portfolios; Excel hits its limits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3895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</a:rPr>
                        <a:t>Automation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Independent review + this automated PHP platform — validated against the Excel model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The October 2025 independent review confirmed the automated platform produces results materially consistent with the enhanced Excel model — automation without methodological disruption.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your independent review found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371600"/>
          <a:ext cx="11064238" cy="3483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428"/>
                <a:gridCol w="3264857"/>
                <a:gridCol w="6166953"/>
              </a:tblGrid>
              <a:tr h="3870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Severity</a:t>
                      </a:r>
                    </a:p>
                  </a:txBody>
                  <a:tcPr marL="54864" marT="27432" marB="27432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marL="54864" marT="27432" marB="27432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 marL="54864" marT="27432" marB="27432">
                    <a:solidFill>
                      <a:srgbClr val="0B2545"/>
                    </a:solidFill>
                  </a:tcPr>
                </a:tc>
              </a:tr>
              <a:tr h="3870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</a:rPr>
                        <a:t>CRITICAL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</a:rPr>
                        <a:t>Spreadsheet model failure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</a:rPr>
                        <a:t>Excel calc &gt;8 hours, processor failures, 500+ facilities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</a:rPr>
                        <a:t>CRITICAL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</a:rPr>
                        <a:t>Missing RBM sector codes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</a:rPr>
                        <a:t>Prudential reporting &amp; IFRS 9 segmentation at risk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</a:tr>
              <a:tr h="3870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</a:rPr>
                        <a:t>CRITICAL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</a:rPr>
                        <a:t>Manual process dependency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</a:rPr>
                        <a:t>Overrides &amp; Excel manipulation without controls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</a:rPr>
                        <a:t>CRITICAL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</a:rPr>
                        <a:t>Data continuity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</a:rPr>
                        <a:t>Multiple accounts per facility; ID inconsistencies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</a:tr>
              <a:tr h="3870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</a:rPr>
                        <a:t>SIGNIFICANT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</a:rPr>
                        <a:t>Concentration risk blind spots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</a:rPr>
                        <a:t>Segmentation gaps hide correlated risk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</a:rPr>
                        <a:t>SIGNIFICANT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</a:rPr>
                        <a:t>Mega Farm risk mismatch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</a:rPr>
                        <a:t>Corporate PD/LGD applied to retail agri loans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</a:tr>
              <a:tr h="3870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</a:rPr>
                        <a:t>SIGNIFICANT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</a:rPr>
                        <a:t>Collateral allocation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</a:rPr>
                        <a:t>Single-realisation, manual proportional allocation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</a:rPr>
                        <a:t>EMERGING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</a:rPr>
                        <a:t>FLI / key-person / data quality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</a:rPr>
                        <a:t>No macro overlay; reliance on individual expertise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Source: Independent Review Report – IFRS 9 ECL, period ended 31 October 2025.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true cost of staying on Excel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5440680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90472"/>
            <a:ext cx="5166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Operational pain (today)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Calculation runs exceeding </a:t>
            </a:r>
            <a:r>
              <a:rPr sz="1200" b="1">
                <a:solidFill>
                  <a:srgbClr val="1F2937"/>
                </a:solidFill>
                <a:latin typeface="Calibri"/>
              </a:rPr>
              <a:t>8 hours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Frequent </a:t>
            </a:r>
            <a:r>
              <a:rPr sz="1200" b="1">
                <a:solidFill>
                  <a:srgbClr val="1F2937"/>
                </a:solidFill>
                <a:latin typeface="Calibri"/>
              </a:rPr>
              <a:t>processor failures</a:t>
            </a:r>
            <a:r>
              <a:rPr sz="1200" b="0">
                <a:solidFill>
                  <a:srgbClr val="1F2937"/>
                </a:solidFill>
                <a:latin typeface="Calibri"/>
              </a:rPr>
              <a:t> mid-run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Cannot handle monthly transition matrices at scale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Portfolio already </a:t>
            </a:r>
            <a:r>
              <a:rPr sz="1200" b="1">
                <a:solidFill>
                  <a:srgbClr val="1F2937"/>
                </a:solidFill>
                <a:latin typeface="Calibri"/>
              </a:rPr>
              <a:t>exceeds 500 facilities</a:t>
            </a:r>
            <a:r>
              <a:rPr sz="1200" b="0">
                <a:solidFill>
                  <a:srgbClr val="1F2937"/>
                </a:solidFill>
                <a:latin typeface="Calibri"/>
              </a:rPr>
              <a:t> and growing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Heavy </a:t>
            </a:r>
            <a:r>
              <a:rPr sz="1200" b="1">
                <a:solidFill>
                  <a:srgbClr val="1F2937"/>
                </a:solidFill>
                <a:latin typeface="Calibri"/>
              </a:rPr>
              <a:t>key-person dependency</a:t>
            </a:r>
            <a:r>
              <a:rPr sz="1200" b="0">
                <a:solidFill>
                  <a:srgbClr val="1F2937"/>
                </a:solidFill>
                <a:latin typeface="Calibri"/>
              </a:rPr>
              <a:t>, thin documentation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440680" cy="457200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90472"/>
            <a:ext cx="5166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Business consequences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1168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Risk of </a:t>
            </a:r>
            <a:r>
              <a:rPr sz="1200" b="1">
                <a:solidFill>
                  <a:srgbClr val="1F2937"/>
                </a:solidFill>
                <a:latin typeface="Calibri"/>
              </a:rPr>
              <a:t>financial misstatement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1">
                <a:solidFill>
                  <a:srgbClr val="1F2937"/>
                </a:solidFill>
                <a:latin typeface="Calibri"/>
              </a:rPr>
              <a:t>Audit qualification</a:t>
            </a:r>
            <a:r>
              <a:rPr sz="1200" b="0">
                <a:solidFill>
                  <a:srgbClr val="1F2937"/>
                </a:solidFill>
                <a:latin typeface="Calibri"/>
              </a:rPr>
              <a:t> / management-letter findings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1">
                <a:solidFill>
                  <a:srgbClr val="1F2937"/>
                </a:solidFill>
                <a:latin typeface="Calibri"/>
              </a:rPr>
              <a:t>Regulatory penalties</a:t>
            </a:r>
            <a:r>
              <a:rPr sz="1200" b="0">
                <a:solidFill>
                  <a:srgbClr val="1F2937"/>
                </a:solidFill>
                <a:latin typeface="Calibri"/>
              </a:rPr>
              <a:t> (RBM prudential gaps)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Reconciliation effort that recurs every month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Growth (Mega Farm) </a:t>
            </a:r>
            <a:r>
              <a:rPr sz="1200" b="1">
                <a:solidFill>
                  <a:srgbClr val="1F2937"/>
                </a:solidFill>
                <a:latin typeface="Calibri"/>
              </a:rPr>
              <a:t>stalled</a:t>
            </a:r>
            <a:r>
              <a:rPr sz="1200" b="0">
                <a:solidFill>
                  <a:srgbClr val="1F2937"/>
                </a:solidFill>
                <a:latin typeface="Calibri"/>
              </a:rPr>
              <a:t> by tooling limits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9D2DE"/>
                </a:solidFill>
                <a:latin typeface="Calibri"/>
              </a:rPr>
              <a:t>One automated, secure, audit-ready IFRS 9 platform — built on your own methodology.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Our solution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>
                <a:solidFill>
                  <a:srgbClr val="16A34A"/>
                </a:solidFill>
                <a:latin typeface="Calibri"/>
              </a:rPr>
              <a:t>●  </a:t>
            </a:r>
            <a:r>
              <a:rPr sz="1550" b="0">
                <a:solidFill>
                  <a:srgbClr val="1F2937"/>
                </a:solidFill>
                <a:latin typeface="Calibri"/>
              </a:rPr>
              <a:t>A </a:t>
            </a:r>
            <a:r>
              <a:rPr sz="1550" b="1">
                <a:solidFill>
                  <a:srgbClr val="1F2937"/>
                </a:solidFill>
                <a:latin typeface="Calibri"/>
              </a:rPr>
              <a:t>database-driven, web-based</a:t>
            </a:r>
            <a:r>
              <a:rPr sz="1550" b="0">
                <a:solidFill>
                  <a:srgbClr val="1F2937"/>
                </a:solidFill>
                <a:latin typeface="Calibri"/>
              </a:rPr>
              <a:t> IFRS 9 ECL platform — no spreadsheets in the critical path.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>
                <a:solidFill>
                  <a:srgbClr val="16A34A"/>
                </a:solidFill>
                <a:latin typeface="Calibri"/>
              </a:rPr>
              <a:t>●  </a:t>
            </a:r>
            <a:r>
              <a:rPr sz="1550" b="0">
                <a:solidFill>
                  <a:srgbClr val="1F2937"/>
                </a:solidFill>
                <a:latin typeface="Calibri"/>
              </a:rPr>
              <a:t>Implements the </a:t>
            </a:r>
            <a:r>
              <a:rPr sz="1550" b="1">
                <a:solidFill>
                  <a:srgbClr val="1F2937"/>
                </a:solidFill>
                <a:latin typeface="Calibri"/>
              </a:rPr>
              <a:t>exact methodology Dupleix built for MAIIC</a:t>
            </a:r>
            <a:r>
              <a:rPr sz="1550" b="0">
                <a:solidFill>
                  <a:srgbClr val="1F2937"/>
                </a:solidFill>
                <a:latin typeface="Calibri"/>
              </a:rPr>
              <a:t>, validated against the Excel model.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>
                <a:solidFill>
                  <a:srgbClr val="16A34A"/>
                </a:solidFill>
                <a:latin typeface="Calibri"/>
              </a:rPr>
              <a:t>●  </a:t>
            </a:r>
            <a:r>
              <a:rPr sz="1550" b="1">
                <a:solidFill>
                  <a:srgbClr val="1F2937"/>
                </a:solidFill>
                <a:latin typeface="Calibri"/>
              </a:rPr>
              <a:t>Set-based SQL engine</a:t>
            </a:r>
            <a:r>
              <a:rPr sz="1550" b="0">
                <a:solidFill>
                  <a:srgbClr val="1F2937"/>
                </a:solidFill>
                <a:latin typeface="Calibri"/>
              </a:rPr>
              <a:t>: full-book ECL in </a:t>
            </a:r>
            <a:r>
              <a:rPr sz="1550" b="1">
                <a:solidFill>
                  <a:srgbClr val="1F2937"/>
                </a:solidFill>
                <a:latin typeface="Calibri"/>
              </a:rPr>
              <a:t>seconds</a:t>
            </a:r>
            <a:r>
              <a:rPr sz="1550" b="0">
                <a:solidFill>
                  <a:srgbClr val="1F2937"/>
                </a:solidFill>
                <a:latin typeface="Calibri"/>
              </a:rPr>
              <a:t>, not 8+ hours.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>
                <a:solidFill>
                  <a:srgbClr val="16A34A"/>
                </a:solidFill>
                <a:latin typeface="Calibri"/>
              </a:rPr>
              <a:t>●  </a:t>
            </a:r>
            <a:r>
              <a:rPr sz="1550" b="0">
                <a:solidFill>
                  <a:srgbClr val="1F2937"/>
                </a:solidFill>
                <a:latin typeface="Calibri"/>
              </a:rPr>
              <a:t>End-to-end workflow: Portfolio setup → Loan data → PD / LGD / FLI models → ECL → Reports.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>
                <a:solidFill>
                  <a:srgbClr val="16A34A"/>
                </a:solidFill>
                <a:latin typeface="Calibri"/>
              </a:rPr>
              <a:t>●  </a:t>
            </a:r>
            <a:r>
              <a:rPr sz="1550" b="0">
                <a:solidFill>
                  <a:srgbClr val="1F2937"/>
                </a:solidFill>
                <a:latin typeface="Calibri"/>
              </a:rPr>
              <a:t>Built-in </a:t>
            </a:r>
            <a:r>
              <a:rPr sz="1550" b="1">
                <a:solidFill>
                  <a:srgbClr val="1F2937"/>
                </a:solidFill>
                <a:latin typeface="Calibri"/>
              </a:rPr>
              <a:t>audit trail, period locking, role security, and an in-system user manual</a:t>
            </a:r>
            <a:r>
              <a:rPr sz="155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>
                <a:solidFill>
                  <a:srgbClr val="16A34A"/>
                </a:solidFill>
                <a:latin typeface="Calibri"/>
              </a:rPr>
              <a:t>●  </a:t>
            </a:r>
            <a:r>
              <a:rPr sz="1550" b="1">
                <a:solidFill>
                  <a:srgbClr val="1F2937"/>
                </a:solidFill>
                <a:latin typeface="Calibri"/>
              </a:rPr>
              <a:t>Flexible &amp; dynamic</a:t>
            </a:r>
            <a:r>
              <a:rPr sz="1550" b="0">
                <a:solidFill>
                  <a:srgbClr val="1F2937"/>
                </a:solidFill>
                <a:latin typeface="Calibri"/>
              </a:rPr>
              <a:t>: add portfolios, transition profiles and settings at any time — no rebuild.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Every risk you identified — solved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371600"/>
          <a:ext cx="11064239" cy="3483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4524"/>
                <a:gridCol w="6529715"/>
              </a:tblGrid>
              <a:tr h="3870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Risk identified in your review</a:t>
                      </a:r>
                    </a:p>
                  </a:txBody>
                  <a:tcPr marL="54864" marT="27432" marB="27432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How our system mitigates it</a:t>
                      </a:r>
                    </a:p>
                  </a:txBody>
                  <a:tcPr marL="54864" marT="27432" marB="27432">
                    <a:solidFill>
                      <a:srgbClr val="0B2545"/>
                    </a:solidFill>
                  </a:tcPr>
                </a:tc>
              </a:tr>
              <a:tr h="38709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Spreadsheet model failure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Automated, transactional database calculations — Excel eliminated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Missing RBM sector codes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Mandatory sector tagging + Data-Quality report hard-flags gaps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</a:tr>
              <a:tr h="38709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Manual process dependency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Systematic workflows, period locking &amp; full audit trail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Data continuity / IDs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Contract-identity mapping &amp; facility-level aggregation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</a:tr>
              <a:tr h="38709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Collateral allocation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Automated multi-collateral proportional discounting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Concentration risk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Portfolio, sector, grade &amp; cooperative concentration reports (HHI)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</a:tr>
              <a:tr h="38709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Mega Farm mismatch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Dedicated retail-agri segmentation &amp; credit-enhancement LGD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FLI gap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Built-in Forward-Looking engine (macro → regression → PD)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This mapping is taken directly from your review's own Risk Mitigation Pathways.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Full IFRS 9 standard compliance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5440680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90472"/>
            <a:ext cx="5166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IFRS 9 (Section 5.5 impairment)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Three-stage model: </a:t>
            </a:r>
            <a:r>
              <a:rPr sz="1200" b="1">
                <a:solidFill>
                  <a:srgbClr val="1F2937"/>
                </a:solidFill>
                <a:latin typeface="Calibri"/>
              </a:rPr>
              <a:t>Stage 1 / 2 / 3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1">
                <a:solidFill>
                  <a:srgbClr val="1F2937"/>
                </a:solidFill>
                <a:latin typeface="Calibri"/>
              </a:rPr>
              <a:t>12-month vs lifetime</a:t>
            </a:r>
            <a:r>
              <a:rPr sz="1200" b="0">
                <a:solidFill>
                  <a:srgbClr val="1F2937"/>
                </a:solidFill>
                <a:latin typeface="Calibri"/>
              </a:rPr>
              <a:t> ECL measurement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1">
                <a:solidFill>
                  <a:srgbClr val="1F2937"/>
                </a:solidFill>
                <a:latin typeface="Calibri"/>
              </a:rPr>
              <a:t>SICR</a:t>
            </a:r>
            <a:r>
              <a:rPr sz="1200" b="0">
                <a:solidFill>
                  <a:srgbClr val="1F2937"/>
                </a:solidFill>
                <a:latin typeface="Calibri"/>
              </a:rPr>
              <a:t> assessment (quantitative + qualitative)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1">
                <a:solidFill>
                  <a:srgbClr val="1F2937"/>
                </a:solidFill>
                <a:latin typeface="Calibri"/>
              </a:rPr>
              <a:t>ECL = EAD × PD × LGD</a:t>
            </a:r>
            <a:r>
              <a:rPr sz="1200" b="0">
                <a:solidFill>
                  <a:srgbClr val="1F2937"/>
                </a:solidFill>
                <a:latin typeface="Calibri"/>
              </a:rPr>
              <a:t> at account level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Forward-looking information incorporated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440680" cy="457200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90472"/>
            <a:ext cx="5166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Disclosure &amp; 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1168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IFRS 7 </a:t>
            </a:r>
            <a:r>
              <a:rPr sz="1200" b="1">
                <a:solidFill>
                  <a:srgbClr val="1F2937"/>
                </a:solidFill>
                <a:latin typeface="Calibri"/>
              </a:rPr>
              <a:t>disclosure note tables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Opening→closing </a:t>
            </a:r>
            <a:r>
              <a:rPr sz="1200" b="1">
                <a:solidFill>
                  <a:srgbClr val="1F2937"/>
                </a:solidFill>
                <a:latin typeface="Calibri"/>
              </a:rPr>
              <a:t>ECL reconciliation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Stage </a:t>
            </a:r>
            <a:r>
              <a:rPr sz="1200" b="1">
                <a:solidFill>
                  <a:srgbClr val="1F2937"/>
                </a:solidFill>
                <a:latin typeface="Calibri"/>
              </a:rPr>
              <a:t>migration &amp; charge/release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1">
                <a:solidFill>
                  <a:srgbClr val="1F2937"/>
                </a:solidFill>
                <a:latin typeface="Calibri"/>
              </a:rPr>
              <a:t>RBM prudential</a:t>
            </a:r>
            <a:r>
              <a:rPr sz="1200" b="0">
                <a:solidFill>
                  <a:srgbClr val="1F2937"/>
                </a:solidFill>
                <a:latin typeface="Calibri"/>
              </a:rPr>
              <a:t> 5-category classification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IFRS 9 ↔ RBM mapping &amp; provision 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Inside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9D2DE"/>
                </a:solidFill>
                <a:latin typeface="Calibri"/>
              </a:rPr>
              <a:t>The engines that do the work — and how each one helps MAIIC.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System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77440"/>
            <a:ext cx="1481328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Portfolio
Setup</a:t>
            </a:r>
          </a:p>
        </p:txBody>
      </p:sp>
      <p:sp>
        <p:nvSpPr>
          <p:cNvPr id="11" name="Chevron 10"/>
          <p:cNvSpPr/>
          <p:nvPr/>
        </p:nvSpPr>
        <p:spPr>
          <a:xfrm>
            <a:off x="1988820" y="2834640"/>
            <a:ext cx="155448" cy="457200"/>
          </a:xfrm>
          <a:prstGeom prst="chevron">
            <a:avLst/>
          </a:prstGeom>
          <a:solidFill>
            <a:srgbClr val="B0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48840" y="2377440"/>
            <a:ext cx="1481328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Customer &amp;
Loan Data</a:t>
            </a:r>
          </a:p>
        </p:txBody>
      </p:sp>
      <p:sp>
        <p:nvSpPr>
          <p:cNvPr id="13" name="Chevron 12"/>
          <p:cNvSpPr/>
          <p:nvPr/>
        </p:nvSpPr>
        <p:spPr>
          <a:xfrm>
            <a:off x="3634740" y="2834640"/>
            <a:ext cx="155448" cy="457200"/>
          </a:xfrm>
          <a:prstGeom prst="chevron">
            <a:avLst/>
          </a:prstGeom>
          <a:solidFill>
            <a:srgbClr val="B0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94760" y="2377440"/>
            <a:ext cx="1481328" cy="1371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PD Model
(Transition)</a:t>
            </a:r>
          </a:p>
        </p:txBody>
      </p:sp>
      <p:sp>
        <p:nvSpPr>
          <p:cNvPr id="15" name="Chevron 14"/>
          <p:cNvSpPr/>
          <p:nvPr/>
        </p:nvSpPr>
        <p:spPr>
          <a:xfrm>
            <a:off x="5280660" y="2834640"/>
            <a:ext cx="155448" cy="457200"/>
          </a:xfrm>
          <a:prstGeom prst="chevron">
            <a:avLst/>
          </a:prstGeom>
          <a:solidFill>
            <a:srgbClr val="B0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40680" y="2377440"/>
            <a:ext cx="1481328" cy="1371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LGD
Model</a:t>
            </a:r>
          </a:p>
        </p:txBody>
      </p:sp>
      <p:sp>
        <p:nvSpPr>
          <p:cNvPr id="17" name="Chevron 16"/>
          <p:cNvSpPr/>
          <p:nvPr/>
        </p:nvSpPr>
        <p:spPr>
          <a:xfrm>
            <a:off x="6926580" y="2834640"/>
            <a:ext cx="155448" cy="457200"/>
          </a:xfrm>
          <a:prstGeom prst="chevron">
            <a:avLst/>
          </a:prstGeom>
          <a:solidFill>
            <a:srgbClr val="B0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86600" y="2377440"/>
            <a:ext cx="1481328" cy="1371600"/>
          </a:xfrm>
          <a:prstGeom prst="round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Forward-
Looking</a:t>
            </a:r>
          </a:p>
        </p:txBody>
      </p:sp>
      <p:sp>
        <p:nvSpPr>
          <p:cNvPr id="19" name="Chevron 18"/>
          <p:cNvSpPr/>
          <p:nvPr/>
        </p:nvSpPr>
        <p:spPr>
          <a:xfrm>
            <a:off x="8572500" y="2834640"/>
            <a:ext cx="155448" cy="457200"/>
          </a:xfrm>
          <a:prstGeom prst="chevron">
            <a:avLst/>
          </a:prstGeom>
          <a:solidFill>
            <a:srgbClr val="B0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32520" y="2377440"/>
            <a:ext cx="1481328" cy="1371600"/>
          </a:xfrm>
          <a:prstGeom prst="roundRect">
            <a:avLst/>
          </a:prstGeom>
          <a:solidFill>
            <a:srgbClr val="D12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ECL
Calculation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10218420" y="2834640"/>
            <a:ext cx="155448" cy="457200"/>
          </a:xfrm>
          <a:prstGeom prst="chevron">
            <a:avLst/>
          </a:prstGeom>
          <a:solidFill>
            <a:srgbClr val="B0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78440" y="2377440"/>
            <a:ext cx="1481328" cy="137160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Reports &amp;
Stress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148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Each step feeds the next and is period-scoped. Models are built, validated, locked (immutable), then applied to the loan book — exactly mirroring the audit-tested Excel process, now automated and traceable.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Engine 1 — The IFRS 9 ECL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●  </a:t>
            </a:r>
            <a:r>
              <a:rPr sz="1450" b="0">
                <a:solidFill>
                  <a:srgbClr val="1F2937"/>
                </a:solidFill>
                <a:latin typeface="Calibri"/>
              </a:rPr>
              <a:t>Computes </a:t>
            </a:r>
            <a:r>
              <a:rPr sz="1450" b="1">
                <a:solidFill>
                  <a:srgbClr val="1F2937"/>
                </a:solidFill>
                <a:latin typeface="Calibri"/>
              </a:rPr>
              <a:t>ECL = EAD × PD × LGD</a:t>
            </a:r>
            <a:r>
              <a:rPr sz="1450" b="0">
                <a:solidFill>
                  <a:srgbClr val="1F2937"/>
                </a:solidFill>
                <a:latin typeface="Calibri"/>
              </a:rPr>
              <a:t> at the account level, aggregated by stage &amp; portfolio.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●  </a:t>
            </a:r>
            <a:r>
              <a:rPr sz="1450" b="1">
                <a:solidFill>
                  <a:srgbClr val="1F2937"/>
                </a:solidFill>
                <a:latin typeface="Calibri"/>
              </a:rPr>
              <a:t>EAD</a:t>
            </a:r>
            <a:r>
              <a:rPr sz="1450" b="0">
                <a:solidFill>
                  <a:srgbClr val="1F2937"/>
                </a:solidFill>
                <a:latin typeface="Calibri"/>
              </a:rPr>
              <a:t> = carrying amount + undrawn commitments × utilisation (CCF).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●  </a:t>
            </a:r>
            <a:r>
              <a:rPr sz="1450" b="0">
                <a:solidFill>
                  <a:srgbClr val="1F2937"/>
                </a:solidFill>
                <a:latin typeface="Calibri"/>
              </a:rPr>
              <a:t>Runs inside a </a:t>
            </a:r>
            <a:r>
              <a:rPr sz="1450" b="1">
                <a:solidFill>
                  <a:srgbClr val="1F2937"/>
                </a:solidFill>
                <a:latin typeface="Calibri"/>
              </a:rPr>
              <a:t>single database transaction with a per-scope lock</a:t>
            </a:r>
            <a:r>
              <a:rPr sz="1450" b="0">
                <a:solidFill>
                  <a:srgbClr val="1F2937"/>
                </a:solidFill>
                <a:latin typeface="Calibri"/>
              </a:rPr>
              <a:t> — no two users can corrupt a run; partial failures roll back cleanly.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●  </a:t>
            </a:r>
            <a:r>
              <a:rPr sz="1450" b="0">
                <a:solidFill>
                  <a:srgbClr val="1F2937"/>
                </a:solidFill>
                <a:latin typeface="Calibri"/>
              </a:rPr>
              <a:t>Selectable </a:t>
            </a:r>
            <a:r>
              <a:rPr sz="1450" b="1">
                <a:solidFill>
                  <a:srgbClr val="1F2937"/>
                </a:solidFill>
                <a:latin typeface="Calibri"/>
              </a:rPr>
              <a:t>PD basis</a:t>
            </a:r>
            <a:r>
              <a:rPr sz="1450" b="0">
                <a:solidFill>
                  <a:srgbClr val="1F2937"/>
                </a:solidFill>
                <a:latin typeface="Calibri"/>
              </a:rPr>
              <a:t> (pre-FLI / post-FLI) and </a:t>
            </a:r>
            <a:r>
              <a:rPr sz="1450" b="1">
                <a:solidFill>
                  <a:srgbClr val="1F2937"/>
                </a:solidFill>
                <a:latin typeface="Calibri"/>
              </a:rPr>
              <a:t>LGD basis</a:t>
            </a:r>
            <a:r>
              <a:rPr sz="1450" b="0">
                <a:solidFill>
                  <a:srgbClr val="1F2937"/>
                </a:solidFill>
                <a:latin typeface="Calibri"/>
              </a:rPr>
              <a:t> (customer / collection / both).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●  </a:t>
            </a:r>
            <a:r>
              <a:rPr sz="1450" b="1">
                <a:solidFill>
                  <a:srgbClr val="1F2937"/>
                </a:solidFill>
                <a:latin typeface="Calibri"/>
              </a:rPr>
              <a:t>Golden-number regression tests</a:t>
            </a:r>
            <a:r>
              <a:rPr sz="1450" b="0">
                <a:solidFill>
                  <a:srgbClr val="1F2937"/>
                </a:solidFill>
                <a:latin typeface="Calibri"/>
              </a:rPr>
              <a:t> prove the maths and protect every future change.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●  </a:t>
            </a:r>
            <a:r>
              <a:rPr sz="1450" b="0">
                <a:solidFill>
                  <a:srgbClr val="1F2937"/>
                </a:solidFill>
                <a:latin typeface="Calibri"/>
              </a:rPr>
              <a:t>Backed by a </a:t>
            </a:r>
            <a:r>
              <a:rPr sz="1450" b="1">
                <a:solidFill>
                  <a:srgbClr val="1F2937"/>
                </a:solidFill>
                <a:latin typeface="Calibri"/>
              </a:rPr>
              <a:t>CLI re-calculation</a:t>
            </a:r>
            <a:r>
              <a:rPr sz="1450" b="0">
                <a:solidFill>
                  <a:srgbClr val="1F2937"/>
                </a:solidFill>
                <a:latin typeface="Calibri"/>
              </a:rPr>
              <a:t> command for back-dated periods and audit re-runs.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Engine 2 — PD: Transition profiles &amp; matrices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5440680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90472"/>
            <a:ext cx="5166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Flexible by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1">
                <a:solidFill>
                  <a:srgbClr val="1F2937"/>
                </a:solidFill>
                <a:latin typeface="Calibri"/>
              </a:rPr>
              <a:t>Count or balance</a:t>
            </a:r>
            <a:r>
              <a:rPr sz="1200" b="0">
                <a:solidFill>
                  <a:srgbClr val="1F2937"/>
                </a:solidFill>
                <a:latin typeface="Calibri"/>
              </a:rPr>
              <a:t> methodology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1">
                <a:solidFill>
                  <a:srgbClr val="1F2937"/>
                </a:solidFill>
                <a:latin typeface="Calibri"/>
              </a:rPr>
              <a:t>Monthly &amp; cumulative</a:t>
            </a:r>
            <a:r>
              <a:rPr sz="1200" b="0">
                <a:solidFill>
                  <a:srgbClr val="1F2937"/>
                </a:solidFill>
                <a:latin typeface="Calibri"/>
              </a:rPr>
              <a:t> transition matrices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User-defined </a:t>
            </a:r>
            <a:r>
              <a:rPr sz="1200" b="1">
                <a:solidFill>
                  <a:srgbClr val="1F2937"/>
                </a:solidFill>
                <a:latin typeface="Calibri"/>
              </a:rPr>
              <a:t>transition profiles</a:t>
            </a:r>
            <a:r>
              <a:rPr sz="1200" b="0">
                <a:solidFill>
                  <a:srgbClr val="1F2937"/>
                </a:solidFill>
                <a:latin typeface="Calibri"/>
              </a:rPr>
              <a:t> (start/end tables, grading columns, default stage)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Drag-and-drop </a:t>
            </a:r>
            <a:r>
              <a:rPr sz="1200" b="1">
                <a:solidFill>
                  <a:srgbClr val="1F2937"/>
                </a:solidFill>
                <a:latin typeface="Calibri"/>
              </a:rPr>
              <a:t>stage re-ordering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Internal-grade scale (A–G) for DFI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440680" cy="457200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90472"/>
            <a:ext cx="5166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Audit-ready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1168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Draft → </a:t>
            </a:r>
            <a:r>
              <a:rPr sz="1200" b="1">
                <a:solidFill>
                  <a:srgbClr val="1F2937"/>
                </a:solidFill>
                <a:latin typeface="Calibri"/>
              </a:rPr>
              <a:t>Lock (immutable)</a:t>
            </a:r>
            <a:r>
              <a:rPr sz="1200" b="0">
                <a:solidFill>
                  <a:srgbClr val="1F2937"/>
                </a:solidFill>
                <a:latin typeface="Calibri"/>
              </a:rPr>
              <a:t> → apply to loan book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Addresses prior </a:t>
            </a:r>
            <a:r>
              <a:rPr sz="1200" b="1">
                <a:solidFill>
                  <a:srgbClr val="1F2937"/>
                </a:solidFill>
                <a:latin typeface="Calibri"/>
              </a:rPr>
              <a:t>grade-averaging</a:t>
            </a:r>
            <a:r>
              <a:rPr sz="1200" b="0">
                <a:solidFill>
                  <a:srgbClr val="1F2937"/>
                </a:solidFill>
                <a:latin typeface="Calibri"/>
              </a:rPr>
              <a:t> audit finding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Recalculate for refreshed data before lock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Periods-cumulated transparency (audit trail)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External (S&amp;P) → </a:t>
            </a:r>
            <a:r>
              <a:rPr sz="1200" b="1">
                <a:solidFill>
                  <a:srgbClr val="1F2937"/>
                </a:solidFill>
                <a:latin typeface="Calibri"/>
              </a:rPr>
              <a:t>internal</a:t>
            </a:r>
            <a:r>
              <a:rPr sz="1200" b="0">
                <a:solidFill>
                  <a:srgbClr val="1F2937"/>
                </a:solidFill>
                <a:latin typeface="Calibri"/>
              </a:rPr>
              <a:t> PD evolution supported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Engine 3 — The LGD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●  </a:t>
            </a:r>
            <a:r>
              <a:rPr sz="1450" b="1">
                <a:solidFill>
                  <a:srgbClr val="1F2937"/>
                </a:solidFill>
                <a:latin typeface="Calibri"/>
              </a:rPr>
              <a:t>System</a:t>
            </a:r>
            <a:r>
              <a:rPr sz="1450" b="0">
                <a:solidFill>
                  <a:srgbClr val="1F2937"/>
                </a:solidFill>
                <a:latin typeface="Calibri"/>
              </a:rPr>
              <a:t> mode: cure-rate &amp; recovery-rate from Stage-3 cohort tracking;  </a:t>
            </a:r>
            <a:r>
              <a:rPr sz="1450" b="1">
                <a:solidFill>
                  <a:srgbClr val="1F2937"/>
                </a:solidFill>
                <a:latin typeface="Calibri"/>
              </a:rPr>
              <a:t>Manual</a:t>
            </a:r>
            <a:r>
              <a:rPr sz="1450" b="0">
                <a:solidFill>
                  <a:srgbClr val="1F2937"/>
                </a:solidFill>
                <a:latin typeface="Calibri"/>
              </a:rPr>
              <a:t> mode for expert input.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●  </a:t>
            </a:r>
            <a:r>
              <a:rPr sz="1450" b="1">
                <a:solidFill>
                  <a:srgbClr val="1F2937"/>
                </a:solidFill>
                <a:latin typeface="Calibri"/>
              </a:rPr>
              <a:t>Monthly and cumulative</a:t>
            </a:r>
            <a:r>
              <a:rPr sz="1450" b="0">
                <a:solidFill>
                  <a:srgbClr val="1F2937"/>
                </a:solidFill>
                <a:latin typeface="Calibri"/>
              </a:rPr>
              <a:t> LGD, with period-list audit transparency.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●  </a:t>
            </a:r>
            <a:r>
              <a:rPr sz="1450" b="1">
                <a:solidFill>
                  <a:srgbClr val="1F2937"/>
                </a:solidFill>
                <a:latin typeface="Calibri"/>
              </a:rPr>
              <a:t>Proportional multi-collateral allocation</a:t>
            </a:r>
            <a:r>
              <a:rPr sz="1450" b="0">
                <a:solidFill>
                  <a:srgbClr val="1F2937"/>
                </a:solidFill>
                <a:latin typeface="Calibri"/>
              </a:rPr>
              <a:t> with forced-sale discounting — directly resolves your review's collateral-allocation finding.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●  </a:t>
            </a:r>
            <a:r>
              <a:rPr sz="1450" b="1">
                <a:solidFill>
                  <a:srgbClr val="1F2937"/>
                </a:solidFill>
                <a:latin typeface="Calibri"/>
              </a:rPr>
              <a:t>Agri credit-enhancement model</a:t>
            </a:r>
            <a:r>
              <a:rPr sz="1450" b="0">
                <a:solidFill>
                  <a:srgbClr val="1F2937"/>
                </a:solidFill>
                <a:latin typeface="Calibri"/>
              </a:rPr>
              <a:t>: off-take / warehouse-receipt / group-cooperative guarantee / AIP backing — realistic for smallholder lending, not just real estate.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●  </a:t>
            </a:r>
            <a:r>
              <a:rPr sz="1450" b="0">
                <a:solidFill>
                  <a:srgbClr val="1F2937"/>
                </a:solidFill>
                <a:latin typeface="Calibri"/>
              </a:rPr>
              <a:t>Lock → apply to loan book, fully traceable.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Engine 4 — The Forward-Looking (FLI)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●  </a:t>
            </a:r>
            <a:r>
              <a:rPr sz="1450" b="0">
                <a:solidFill>
                  <a:srgbClr val="1F2937"/>
                </a:solidFill>
                <a:latin typeface="Calibri"/>
              </a:rPr>
              <a:t>Closes the </a:t>
            </a:r>
            <a:r>
              <a:rPr sz="1450" b="1">
                <a:solidFill>
                  <a:srgbClr val="1F2937"/>
                </a:solidFill>
                <a:latin typeface="Calibri"/>
              </a:rPr>
              <a:t>macroeconomic overlay gap</a:t>
            </a:r>
            <a:r>
              <a:rPr sz="1450" b="0">
                <a:solidFill>
                  <a:srgbClr val="1F2937"/>
                </a:solidFill>
                <a:latin typeface="Calibri"/>
              </a:rPr>
              <a:t> flagged in your review.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●  </a:t>
            </a:r>
            <a:r>
              <a:rPr sz="1450" b="1">
                <a:solidFill>
                  <a:srgbClr val="1F2937"/>
                </a:solidFill>
                <a:latin typeface="Calibri"/>
              </a:rPr>
              <a:t>Macro elements</a:t>
            </a:r>
            <a:r>
              <a:rPr sz="1450" b="0">
                <a:solidFill>
                  <a:srgbClr val="1F2937"/>
                </a:solidFill>
                <a:latin typeface="Calibri"/>
              </a:rPr>
              <a:t> library + </a:t>
            </a:r>
            <a:r>
              <a:rPr sz="1450" b="1">
                <a:solidFill>
                  <a:srgbClr val="1F2937"/>
                </a:solidFill>
                <a:latin typeface="Calibri"/>
              </a:rPr>
              <a:t>scenario profiles</a:t>
            </a:r>
            <a:r>
              <a:rPr sz="1450" b="0">
                <a:solidFill>
                  <a:srgbClr val="1F2937"/>
                </a:solidFill>
                <a:latin typeface="Calibri"/>
              </a:rPr>
              <a:t> (base / upside / downside) with probability weights.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●  </a:t>
            </a:r>
            <a:r>
              <a:rPr sz="1450" b="1">
                <a:solidFill>
                  <a:srgbClr val="1F2937"/>
                </a:solidFill>
                <a:latin typeface="Calibri"/>
              </a:rPr>
              <a:t>Weighted forecast</a:t>
            </a:r>
            <a:r>
              <a:rPr sz="1450" b="0">
                <a:solidFill>
                  <a:srgbClr val="1F2937"/>
                </a:solidFill>
                <a:latin typeface="Calibri"/>
              </a:rPr>
              <a:t> and a </a:t>
            </a:r>
            <a:r>
              <a:rPr sz="1450" b="1">
                <a:solidFill>
                  <a:srgbClr val="1F2937"/>
                </a:solidFill>
                <a:latin typeface="Calibri"/>
              </a:rPr>
              <a:t>regression layer</a:t>
            </a:r>
            <a:r>
              <a:rPr sz="1450" b="0">
                <a:solidFill>
                  <a:srgbClr val="1F2937"/>
                </a:solidFill>
                <a:latin typeface="Calibri"/>
              </a:rPr>
              <a:t> (trained model or manual slope/intercept) translating a macro shock into a PD adjustment.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●  </a:t>
            </a:r>
            <a:r>
              <a:rPr sz="1450" b="0">
                <a:solidFill>
                  <a:srgbClr val="1F2937"/>
                </a:solidFill>
                <a:latin typeface="Calibri"/>
              </a:rPr>
              <a:t>Produces </a:t>
            </a:r>
            <a:r>
              <a:rPr sz="1450" b="1">
                <a:solidFill>
                  <a:srgbClr val="1F2937"/>
                </a:solidFill>
                <a:latin typeface="Calibri"/>
              </a:rPr>
              <a:t>post-FLI PD</a:t>
            </a:r>
            <a:r>
              <a:rPr sz="1450" b="0">
                <a:solidFill>
                  <a:srgbClr val="1F2937"/>
                </a:solidFill>
                <a:latin typeface="Calibri"/>
              </a:rPr>
              <a:t> on the loan book; ECL can be run pre- or post-FLI.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●  </a:t>
            </a:r>
            <a:r>
              <a:rPr sz="1450" b="0">
                <a:solidFill>
                  <a:srgbClr val="1F2937"/>
                </a:solidFill>
                <a:latin typeface="Calibri"/>
              </a:rPr>
              <a:t>Designed for Malawi agri drivers — rainfall/drought, FX, input prices — as standard stress levers.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Engines 5 &amp; 6 — Staging/SICR &amp; Stress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5440680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90472"/>
            <a:ext cx="5166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Staging &amp; SICR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Quantitative </a:t>
            </a:r>
            <a:r>
              <a:rPr sz="1200" b="1">
                <a:solidFill>
                  <a:srgbClr val="1F2937"/>
                </a:solidFill>
                <a:latin typeface="Calibri"/>
              </a:rPr>
              <a:t>thresholds</a:t>
            </a:r>
            <a:r>
              <a:rPr sz="1200" b="0">
                <a:solidFill>
                  <a:srgbClr val="1F2937"/>
                </a:solidFill>
                <a:latin typeface="Calibri"/>
              </a:rPr>
              <a:t> + qualitative </a:t>
            </a:r>
            <a:r>
              <a:rPr sz="1200" b="1">
                <a:solidFill>
                  <a:srgbClr val="1F2937"/>
                </a:solidFill>
                <a:latin typeface="Calibri"/>
              </a:rPr>
              <a:t>SICR triggers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Consistent, rule-based Stage 1/2/3 allocation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Removes the </a:t>
            </a:r>
            <a:r>
              <a:rPr sz="1200" b="1">
                <a:solidFill>
                  <a:srgbClr val="1F2937"/>
                </a:solidFill>
                <a:latin typeface="Calibri"/>
              </a:rPr>
              <a:t>manual arrears-override</a:t>
            </a:r>
            <a:r>
              <a:rPr sz="1200" b="0">
                <a:solidFill>
                  <a:srgbClr val="1F2937"/>
                </a:solidFill>
                <a:latin typeface="Calibri"/>
              </a:rPr>
              <a:t> audit risk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Stage migration fully reported &amp; reconciled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440680" cy="457200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90472"/>
            <a:ext cx="5166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Dedicated Stress-Testing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1168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Per-stage </a:t>
            </a:r>
            <a:r>
              <a:rPr sz="1200" b="1">
                <a:solidFill>
                  <a:srgbClr val="1F2937"/>
                </a:solidFill>
                <a:latin typeface="Calibri"/>
              </a:rPr>
              <a:t>PD multipliers &amp; LGD add-ons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Agri presets: </a:t>
            </a:r>
            <a:r>
              <a:rPr sz="1200" b="1">
                <a:solidFill>
                  <a:srgbClr val="1F2937"/>
                </a:solidFill>
                <a:latin typeface="Calibri"/>
              </a:rPr>
              <a:t>drought, FX/input shock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Base vs stressed ECL by stage &amp; portfolio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1">
                <a:solidFill>
                  <a:srgbClr val="1F2937"/>
                </a:solidFill>
                <a:latin typeface="Calibri"/>
              </a:rPr>
              <a:t>Save / reload scenarios</a:t>
            </a:r>
            <a:r>
              <a:rPr sz="1200" b="0">
                <a:solidFill>
                  <a:srgbClr val="1F2937"/>
                </a:solidFill>
                <a:latin typeface="Calibri"/>
              </a:rPr>
              <a:t>; cooperative contagion view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reports suite — 24+ regulatory &amp; management reports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371600"/>
          <a:ext cx="11064238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571"/>
                <a:gridCol w="5441429"/>
                <a:gridCol w="3446238"/>
              </a:tblGrid>
              <a:tr h="38796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marL="54864" marT="27432" marB="27432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Reports</a:t>
                      </a:r>
                    </a:p>
                  </a:txBody>
                  <a:tcPr marL="54864" marT="27432" marB="27432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How it helps MAIIC</a:t>
                      </a:r>
                    </a:p>
                  </a:txBody>
                  <a:tcPr marL="54864" marT="27432" marB="27432">
                    <a:solidFill>
                      <a:srgbClr val="0B2545"/>
                    </a:solidFill>
                  </a:tcPr>
                </a:tc>
              </a:tr>
              <a:tr h="3879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</a:rPr>
                        <a:t>Core ECL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</a:rPr>
                        <a:t>Executive Summary, ECL by Stage / Portfolio / Sector / Product / Internal Grade, Account-level trail, Portfolio trend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</a:rPr>
                        <a:t>Board &amp; finance reporting; DFI internal-grade view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3879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</a:rPr>
                        <a:t>Staging &amp; Movement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</a:rPr>
                        <a:t>SICR trigger, Stage migration, Opening→Closing ECL recon, ECL charge/release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</a:rPr>
                        <a:t>Explains the P&amp;L impairment movement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</a:tr>
              <a:tr h="3879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</a:rPr>
                        <a:t>Model Components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</a:rPr>
                        <a:t>PD, LGD &amp; Collateral, EAD, Credit Risk Mitigation (agri)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</a:rPr>
                        <a:t>Model transparency &amp; validation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3879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</a:rPr>
                        <a:t>Forward-Looking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</a:rPr>
                        <a:t>Macro scenario, Scenario-weighted ECL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</a:rPr>
                        <a:t>Demonstrates FLI compliance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</a:tr>
              <a:tr h="3879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</a:rPr>
                        <a:t>RBM Prudential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</a:rPr>
                        <a:t>RBM classification, IFRS 9 vs RBM, NPL &amp; arrears, Provision comparison, Concentration, Cooperative linkage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</a:rPr>
                        <a:t>Regulatory submission &amp; concentration oversight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3879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</a:rPr>
                        <a:t>Disclosure &amp; Audit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</a:rPr>
                        <a:t>FS disclosure note tables, Audit &amp; Data-Quality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</a:rPr>
                        <a:t>Audit-ready; hard-flags data gaps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AI &amp;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1">
                <a:solidFill>
                  <a:srgbClr val="1F2937"/>
                </a:solidFill>
                <a:latin typeface="Calibri"/>
              </a:rPr>
              <a:t>AI Executive Commentary</a:t>
            </a:r>
            <a:r>
              <a:rPr sz="1500" b="0">
                <a:solidFill>
                  <a:srgbClr val="1F2937"/>
                </a:solidFill>
                <a:latin typeface="Calibri"/>
              </a:rPr>
              <a:t> — auto-generated narrative on the ECL position for board packs.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1">
                <a:solidFill>
                  <a:srgbClr val="1F2937"/>
                </a:solidFill>
                <a:latin typeface="Calibri"/>
              </a:rPr>
              <a:t>Early Warning System</a:t>
            </a:r>
            <a:r>
              <a:rPr sz="1500" b="0">
                <a:solidFill>
                  <a:srgbClr val="1F2937"/>
                </a:solidFill>
                <a:latin typeface="Calibri"/>
              </a:rPr>
              <a:t> — forward risk signals &amp; watchlist before default.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1">
                <a:solidFill>
                  <a:srgbClr val="1F2937"/>
                </a:solidFill>
                <a:latin typeface="Calibri"/>
              </a:rPr>
              <a:t>Sensitivity Analysis</a:t>
            </a:r>
            <a:r>
              <a:rPr sz="1500" b="0">
                <a:solidFill>
                  <a:srgbClr val="1F2937"/>
                </a:solidFill>
                <a:latin typeface="Calibri"/>
              </a:rPr>
              <a:t> — interactive: shock PD/LGD directly, or run a macro shock through regression → PD → ECL.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Every report exports to </a:t>
            </a:r>
            <a:r>
              <a:rPr sz="1500" b="1">
                <a:solidFill>
                  <a:srgbClr val="1F2937"/>
                </a:solidFill>
                <a:latin typeface="Calibri"/>
              </a:rPr>
              <a:t>CSV and PDF</a:t>
            </a:r>
            <a:r>
              <a:rPr sz="1500" b="0">
                <a:solidFill>
                  <a:srgbClr val="1F2937"/>
                </a:solidFill>
                <a:latin typeface="Calibri"/>
              </a:rPr>
              <a:t>; all tables paginate and are drill-ready.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AI turns numbers into decisions — faster board reporting, earlier risk action.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Real portfolio segmentation for MAIIC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Native segmentation for </a:t>
            </a:r>
            <a:r>
              <a:rPr sz="1500" b="1">
                <a:solidFill>
                  <a:srgbClr val="1F2937"/>
                </a:solidFill>
                <a:latin typeface="Calibri"/>
              </a:rPr>
              <a:t>MAIIC core, FinES (concessional), and Mega Farm retail-agri</a:t>
            </a:r>
            <a:r>
              <a:rPr sz="15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Derived agri portfolios: </a:t>
            </a:r>
            <a:r>
              <a:rPr sz="1500" b="1">
                <a:solidFill>
                  <a:srgbClr val="1F2937"/>
                </a:solidFill>
                <a:latin typeface="Calibri"/>
              </a:rPr>
              <a:t>Agri-Inputs, Farm Equipment, Irrigation, Agri Working Capital, Industrial</a:t>
            </a:r>
            <a:r>
              <a:rPr sz="15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PD, LGD and ECL computed </a:t>
            </a:r>
            <a:r>
              <a:rPr sz="1500" b="1">
                <a:solidFill>
                  <a:srgbClr val="1F2937"/>
                </a:solidFill>
                <a:latin typeface="Calibri"/>
              </a:rPr>
              <a:t>per portfolio &amp; per sector</a:t>
            </a:r>
            <a:r>
              <a:rPr sz="1500" b="0">
                <a:solidFill>
                  <a:srgbClr val="1F2937"/>
                </a:solidFill>
                <a:latin typeface="Calibri"/>
              </a:rPr>
              <a:t> — no blended assumptions.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Directly answers your review's </a:t>
            </a:r>
            <a:r>
              <a:rPr sz="1500" b="1">
                <a:solidFill>
                  <a:srgbClr val="1F2937"/>
                </a:solidFill>
                <a:latin typeface="Calibri"/>
              </a:rPr>
              <a:t>Mega Farm mismatch</a:t>
            </a:r>
            <a:r>
              <a:rPr sz="1500" b="0">
                <a:solidFill>
                  <a:srgbClr val="1F2937"/>
                </a:solidFill>
                <a:latin typeface="Calibri"/>
              </a:rPr>
              <a:t> and </a:t>
            </a:r>
            <a:r>
              <a:rPr sz="1500" b="1">
                <a:solidFill>
                  <a:srgbClr val="1F2937"/>
                </a:solidFill>
                <a:latin typeface="Calibri"/>
              </a:rPr>
              <a:t>concentration blind-spot</a:t>
            </a:r>
            <a:r>
              <a:rPr sz="1500" b="0">
                <a:solidFill>
                  <a:srgbClr val="1F2937"/>
                </a:solidFill>
                <a:latin typeface="Calibri"/>
              </a:rPr>
              <a:t> findings.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RBM sector tagging enforced; </a:t>
            </a:r>
            <a:r>
              <a:rPr sz="1500" b="1">
                <a:solidFill>
                  <a:srgbClr val="1F2937"/>
                </a:solidFill>
                <a:latin typeface="Calibri"/>
              </a:rPr>
              <a:t>NPL by DPD reconciles exactly to Stage 3</a:t>
            </a:r>
            <a:r>
              <a:rPr sz="1500" b="0">
                <a:solidFill>
                  <a:srgbClr val="1F293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Data integrity &amp; governance — built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5440680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90472"/>
            <a:ext cx="5166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Controls in the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Full </a:t>
            </a:r>
            <a:r>
              <a:rPr sz="1200" b="1">
                <a:solidFill>
                  <a:srgbClr val="1F2937"/>
                </a:solidFill>
                <a:latin typeface="Calibri"/>
              </a:rPr>
              <a:t>audit trail</a:t>
            </a:r>
            <a:r>
              <a:rPr sz="1200" b="0">
                <a:solidFill>
                  <a:srgbClr val="1F2937"/>
                </a:solidFill>
                <a:latin typeface="Calibri"/>
              </a:rPr>
              <a:t> on critical changes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1">
                <a:solidFill>
                  <a:srgbClr val="1F2937"/>
                </a:solidFill>
                <a:latin typeface="Calibri"/>
              </a:rPr>
              <a:t>Period locking</a:t>
            </a:r>
            <a:r>
              <a:rPr sz="1200" b="0">
                <a:solidFill>
                  <a:srgbClr val="1F2937"/>
                </a:solidFill>
                <a:latin typeface="Calibri"/>
              </a:rPr>
              <a:t> → immutable closed periods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1">
                <a:solidFill>
                  <a:srgbClr val="1F2937"/>
                </a:solidFill>
                <a:latin typeface="Calibri"/>
              </a:rPr>
              <a:t>Imports activity log</a:t>
            </a:r>
            <a:r>
              <a:rPr sz="1200" b="0">
                <a:solidFill>
                  <a:srgbClr val="1F2937"/>
                </a:solidFill>
                <a:latin typeface="Calibri"/>
              </a:rPr>
              <a:t>: rows, exceptions, timing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1">
                <a:solidFill>
                  <a:srgbClr val="1F2937"/>
                </a:solidFill>
                <a:latin typeface="Calibri"/>
              </a:rPr>
              <a:t>Audit &amp; Data-Quality report</a:t>
            </a:r>
            <a:r>
              <a:rPr sz="1200" b="0">
                <a:solidFill>
                  <a:srgbClr val="1F2937"/>
                </a:solidFill>
                <a:latin typeface="Calibri"/>
              </a:rPr>
              <a:t> flags missing sector / unmapped portfolio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440680" cy="457200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90472"/>
            <a:ext cx="5166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Resolves review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1168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Mandatory-field validation rules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Facility-level aggregation (no count inflation)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Contract-identity mapping across periods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Reconciliation surfaced, not hidden in Excel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Workspace &amp; collaboration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1">
                <a:solidFill>
                  <a:srgbClr val="1F2937"/>
                </a:solidFill>
                <a:latin typeface="Calibri"/>
              </a:rPr>
              <a:t>Period-close checklist</a:t>
            </a:r>
            <a:r>
              <a:rPr sz="1500" b="0">
                <a:solidFill>
                  <a:srgbClr val="1F2937"/>
                </a:solidFill>
                <a:latin typeface="Calibri"/>
              </a:rPr>
              <a:t>: import → segmentation → PD → LGD → FLI → ECL → reports → sign-off, with progress tracking.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1">
                <a:solidFill>
                  <a:srgbClr val="1F2937"/>
                </a:solidFill>
                <a:latin typeface="Calibri"/>
              </a:rPr>
              <a:t>Role-aware</a:t>
            </a:r>
            <a:r>
              <a:rPr sz="1500" b="0">
                <a:solidFill>
                  <a:srgbClr val="1F2937"/>
                </a:solidFill>
                <a:latin typeface="Calibri"/>
              </a:rPr>
              <a:t>: administrators mark steps complete (recorded with who &amp; when); everyone else gets a live read-only view.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1">
                <a:solidFill>
                  <a:srgbClr val="1F2937"/>
                </a:solidFill>
                <a:latin typeface="Calibri"/>
              </a:rPr>
              <a:t>In-system team messaging</a:t>
            </a:r>
            <a:r>
              <a:rPr sz="1500" b="0">
                <a:solidFill>
                  <a:srgbClr val="1F2937"/>
                </a:solidFill>
                <a:latin typeface="Calibri"/>
              </a:rPr>
              <a:t> per reporting period — no more email threads.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Deep links jump straight to the right screen for each task.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Knowledge lives in the system — directly mitigating </a:t>
            </a:r>
            <a:r>
              <a:rPr sz="1500" b="1">
                <a:solidFill>
                  <a:srgbClr val="1F2937"/>
                </a:solidFill>
                <a:latin typeface="Calibri"/>
              </a:rPr>
              <a:t>key-person dependency</a:t>
            </a:r>
            <a:r>
              <a:rPr sz="1500" b="0">
                <a:solidFill>
                  <a:srgbClr val="1F293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5440680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90472"/>
            <a:ext cx="5166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Access &amp;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Authenticated login; </a:t>
            </a:r>
            <a:r>
              <a:rPr sz="1200" b="1">
                <a:solidFill>
                  <a:srgbClr val="1F2937"/>
                </a:solidFill>
                <a:latin typeface="Calibri"/>
              </a:rPr>
              <a:t>two-factor authentication (2FA)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1">
                <a:solidFill>
                  <a:srgbClr val="1F2937"/>
                </a:solidFill>
                <a:latin typeface="Calibri"/>
              </a:rPr>
              <a:t>Role &amp; permission</a:t>
            </a:r>
            <a:r>
              <a:rPr sz="1200" b="0">
                <a:solidFill>
                  <a:srgbClr val="1F2937"/>
                </a:solidFill>
                <a:latin typeface="Calibri"/>
              </a:rPr>
              <a:t> based access control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Forced password update on first login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Session controls &amp; sign-out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440680" cy="457200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90472"/>
            <a:ext cx="5166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Integrity &amp; assurance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1168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1">
                <a:solidFill>
                  <a:srgbClr val="1F2937"/>
                </a:solidFill>
                <a:latin typeface="Calibri"/>
              </a:rPr>
              <a:t>Transactional</a:t>
            </a:r>
            <a:r>
              <a:rPr sz="1200" b="0">
                <a:solidFill>
                  <a:srgbClr val="1F2937"/>
                </a:solidFill>
                <a:latin typeface="Calibri"/>
              </a:rPr>
              <a:t> ECL runs (atomic, locked)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1">
                <a:solidFill>
                  <a:srgbClr val="1F2937"/>
                </a:solidFill>
                <a:latin typeface="Calibri"/>
              </a:rPr>
              <a:t>Immutable</a:t>
            </a:r>
            <a:r>
              <a:rPr sz="1200" b="0">
                <a:solidFill>
                  <a:srgbClr val="1F2937"/>
                </a:solidFill>
                <a:latin typeface="Calibri"/>
              </a:rPr>
              <a:t> locked periods &amp; models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Comprehensive </a:t>
            </a:r>
            <a:r>
              <a:rPr sz="1200" b="1">
                <a:solidFill>
                  <a:srgbClr val="1F2937"/>
                </a:solidFill>
                <a:latin typeface="Calibri"/>
              </a:rPr>
              <a:t>activity / audit logging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Self-hosted — your data stays in your environment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Performance &amp; scalability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16A34A"/>
                </a:solidFill>
                <a:latin typeface="Calibri"/>
              </a:rPr>
              <a:t>●  </a:t>
            </a:r>
            <a:r>
              <a:rPr sz="1550" b="1">
                <a:solidFill>
                  <a:srgbClr val="1F2937"/>
                </a:solidFill>
                <a:latin typeface="Calibri"/>
              </a:rPr>
              <a:t>Set-based SQL</a:t>
            </a:r>
            <a:r>
              <a:rPr sz="1550" b="0">
                <a:solidFill>
                  <a:srgbClr val="1F2937"/>
                </a:solidFill>
                <a:latin typeface="Calibri"/>
              </a:rPr>
              <a:t> — full-book ECL in </a:t>
            </a:r>
            <a:r>
              <a:rPr sz="1550" b="1">
                <a:solidFill>
                  <a:srgbClr val="1F2937"/>
                </a:solidFill>
                <a:latin typeface="Calibri"/>
              </a:rPr>
              <a:t>seconds</a:t>
            </a:r>
            <a:r>
              <a:rPr sz="1550" b="0">
                <a:solidFill>
                  <a:srgbClr val="1F2937"/>
                </a:solidFill>
                <a:latin typeface="Calibri"/>
              </a:rPr>
              <a:t>, versus 8+ hours in Excel.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16A34A"/>
                </a:solidFill>
                <a:latin typeface="Calibri"/>
              </a:rPr>
              <a:t>●  </a:t>
            </a:r>
            <a:r>
              <a:rPr sz="1550" b="0">
                <a:solidFill>
                  <a:srgbClr val="1F2937"/>
                </a:solidFill>
                <a:latin typeface="Calibri"/>
              </a:rPr>
              <a:t>Comfortably handles the current </a:t>
            </a:r>
            <a:r>
              <a:rPr sz="1550" b="1">
                <a:solidFill>
                  <a:srgbClr val="1F2937"/>
                </a:solidFill>
                <a:latin typeface="Calibri"/>
              </a:rPr>
              <a:t>5,000+ row</a:t>
            </a:r>
            <a:r>
              <a:rPr sz="1550" b="0">
                <a:solidFill>
                  <a:srgbClr val="1F2937"/>
                </a:solidFill>
                <a:latin typeface="Calibri"/>
              </a:rPr>
              <a:t> book and rapid growth.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16A34A"/>
                </a:solidFill>
                <a:latin typeface="Calibri"/>
              </a:rPr>
              <a:t>●  </a:t>
            </a:r>
            <a:r>
              <a:rPr sz="1550" b="0">
                <a:solidFill>
                  <a:srgbClr val="1F2937"/>
                </a:solidFill>
                <a:latin typeface="Calibri"/>
              </a:rPr>
              <a:t>Concurrency-safe: per-scope locking prevents corrupt parallel runs.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16A34A"/>
                </a:solidFill>
                <a:latin typeface="Calibri"/>
              </a:rPr>
              <a:t>●  </a:t>
            </a:r>
            <a:r>
              <a:rPr sz="1550" b="0">
                <a:solidFill>
                  <a:srgbClr val="1F2937"/>
                </a:solidFill>
                <a:latin typeface="Calibri"/>
              </a:rPr>
              <a:t>Queue-ready architecture for very large books and scheduled runs.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16A34A"/>
                </a:solidFill>
                <a:latin typeface="Calibri"/>
              </a:rPr>
              <a:t>●  </a:t>
            </a:r>
            <a:r>
              <a:rPr sz="1550" b="0">
                <a:solidFill>
                  <a:srgbClr val="1F2937"/>
                </a:solidFill>
                <a:latin typeface="Calibri"/>
              </a:rPr>
              <a:t>No processor failures, no fragile workbooks — reliability by design.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Flexibility &amp; dynamism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1">
                <a:solidFill>
                  <a:srgbClr val="1F2937"/>
                </a:solidFill>
                <a:latin typeface="Calibri"/>
              </a:rPr>
              <a:t>Add a new portfolio in minutes</a:t>
            </a:r>
            <a:r>
              <a:rPr sz="1500" b="0">
                <a:solidFill>
                  <a:srgbClr val="1F2937"/>
                </a:solidFill>
                <a:latin typeface="Calibri"/>
              </a:rPr>
              <a:t> — it flows through PD, LGD, ECL and every report automatically.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1">
                <a:solidFill>
                  <a:srgbClr val="1F2937"/>
                </a:solidFill>
                <a:latin typeface="Calibri"/>
              </a:rPr>
              <a:t>Transition profiles are fully user-defined</a:t>
            </a:r>
            <a:r>
              <a:rPr sz="1500" b="0">
                <a:solidFill>
                  <a:srgbClr val="1F2937"/>
                </a:solidFill>
                <a:latin typeface="Calibri"/>
              </a:rPr>
              <a:t>: tables, grading columns, count/balance, default stage, stage order.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1">
                <a:solidFill>
                  <a:srgbClr val="1F2937"/>
                </a:solidFill>
                <a:latin typeface="Calibri"/>
              </a:rPr>
              <a:t>All settings configurable</a:t>
            </a:r>
            <a:r>
              <a:rPr sz="1500" b="0">
                <a:solidFill>
                  <a:srgbClr val="1F2937"/>
                </a:solidFill>
                <a:latin typeface="Calibri"/>
              </a:rPr>
              <a:t>: reporting periods, currency, organisation, manuals — no code change.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1">
                <a:solidFill>
                  <a:srgbClr val="1F2937"/>
                </a:solidFill>
                <a:latin typeface="Calibri"/>
              </a:rPr>
              <a:t>In-built manual editor</a:t>
            </a:r>
            <a:r>
              <a:rPr sz="1500" b="0">
                <a:solidFill>
                  <a:srgbClr val="1F2937"/>
                </a:solidFill>
                <a:latin typeface="Calibri"/>
              </a:rPr>
              <a:t>: contextual help per module, editable by admins (the green ? on every screen).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New regulatory views are added as catalogue-driven reports — the system grows with MAIIC.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Working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9D2DE"/>
                </a:solidFill>
                <a:latin typeface="Calibri"/>
              </a:rPr>
              <a:t>Implementation, investment and the people behind the platform.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Implementation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23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371600"/>
          <a:ext cx="11064238" cy="1947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8376"/>
                <a:gridCol w="6424397"/>
                <a:gridCol w="2141465"/>
              </a:tblGrid>
              <a:tr h="38953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54864" marT="27432" marB="27432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Activities</a:t>
                      </a:r>
                    </a:p>
                  </a:txBody>
                  <a:tcPr marL="54864" marT="27432" marB="27432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Payment milestone</a:t>
                      </a:r>
                    </a:p>
                  </a:txBody>
                  <a:tcPr marL="54864" marT="27432" marB="27432">
                    <a:solidFill>
                      <a:srgbClr val="0B2545"/>
                    </a:solidFill>
                  </a:tcPr>
                </a:tc>
              </a:tr>
              <a:tr h="38953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</a:rPr>
                        <a:t>1. Initiation &amp; setup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</a:rPr>
                        <a:t>Environment install, configuration, branding, user setup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</a:rPr>
                        <a:t>25% on signing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38953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</a:rPr>
                        <a:t>2. Data migration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</a:rPr>
                        <a:t>Loan-book &amp; client load, historical mapping, validation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</a:rPr>
                        <a:t>25%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</a:tr>
              <a:tr h="38953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</a:rPr>
                        <a:t>3. Model alignment &amp; UAT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</a:rPr>
                        <a:t>PD/LGD/FLI/ECL parallel run vs Excel; user acceptance testing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</a:rPr>
                        <a:t>25%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3895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</a:rPr>
                        <a:t>4. Go-live &amp; handover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</a:rPr>
                        <a:t>Training, documentation, sign-off, support transition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</a:rPr>
                        <a:t>25% on go-live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297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Typical delivery: 6–10 weeks depending on data readiness. Methodology is already validated against your Excel model, which materially de-risks the timeline.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Investment &amp; payment options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5440680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90472"/>
            <a:ext cx="5166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Option A — One-off licence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1">
                <a:solidFill>
                  <a:srgbClr val="1F2937"/>
                </a:solidFill>
                <a:latin typeface="Calibri"/>
              </a:rPr>
              <a:t>USD 30,000</a:t>
            </a:r>
            <a:r>
              <a:rPr sz="1200" b="0">
                <a:solidFill>
                  <a:srgbClr val="1F2937"/>
                </a:solidFill>
                <a:latin typeface="Calibri"/>
              </a:rPr>
              <a:t> once-off, perpetual licence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Paid in </a:t>
            </a:r>
            <a:r>
              <a:rPr sz="1200" b="1">
                <a:solidFill>
                  <a:srgbClr val="1F2937"/>
                </a:solidFill>
                <a:latin typeface="Calibri"/>
              </a:rPr>
              <a:t>4 implementation milestones (25% each)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Includes setup, data migration, UAT, go-live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Standard warranty &amp; handover included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Best total cost of ownership long-term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440680" cy="457200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90472"/>
            <a:ext cx="5166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Option B — Managed subscription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1168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1">
                <a:solidFill>
                  <a:srgbClr val="1F2937"/>
                </a:solidFill>
                <a:latin typeface="Calibri"/>
              </a:rPr>
              <a:t>USD 4,500 / month</a:t>
            </a:r>
            <a:r>
              <a:rPr sz="1200" b="0">
                <a:solidFill>
                  <a:srgbClr val="1F2937"/>
                </a:solidFill>
                <a:latin typeface="Calibri"/>
              </a:rPr>
              <a:t> managed service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Plus a one-off </a:t>
            </a:r>
            <a:r>
              <a:rPr sz="1200" b="1">
                <a:solidFill>
                  <a:srgbClr val="1F2937"/>
                </a:solidFill>
                <a:latin typeface="Calibri"/>
              </a:rPr>
              <a:t>installation fee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Hosting support, maintenance &amp; updates included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Lower upfront commitment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E8731C"/>
                </a:solidFill>
                <a:latin typeface="Calibri"/>
              </a:rPr>
              <a:t>▸ </a:t>
            </a:r>
            <a:r>
              <a:rPr sz="1200" b="0">
                <a:solidFill>
                  <a:srgbClr val="1F2937"/>
                </a:solidFill>
                <a:latin typeface="Calibri"/>
              </a:rPr>
              <a:t>Switch to licence at any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Customised to MAIIC's portfolios and the recommendations from our independent Excel-model review. Final terms confirmed in the engagement letter.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team behind the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25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371600"/>
          <a:ext cx="11064238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952"/>
                <a:gridCol w="2720714"/>
                <a:gridCol w="5985572"/>
              </a:tblGrid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marL="54864" marT="27432" marB="27432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54864" marT="27432" marB="27432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 marL="54864" marT="27432" marB="27432">
                    <a:solidFill>
                      <a:srgbClr val="0B2545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Themba Mazibuko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Principal / Lead Facilitator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Risk strategy, IFRS 9 methodology, engagement lead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Edward Mazibuko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Risk &amp; Strategy Consultant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Credit risk modelling &amp; client advisory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Farisai Maburitse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Risk &amp; Modelling Consultant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IFRS 9 models, validation &amp; analytics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Wadzanai Rombe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Financial Engineer / Developer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System architecture &amp; IFRS 9 engine; MSc Financial Engineering (in progress), WorldQuant University</a:t>
                      </a:r>
                    </a:p>
                  </a:txBody>
                  <a:tcPr marL="54864" marT="18288" marB="18288">
                    <a:solidFill>
                      <a:srgbClr val="F5F6FA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Kundai Muriwo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Data &amp; Analytics Consultant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Data engineering, reporting &amp; automation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4348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Dupleix Institute — Risk | Strategy | Data Analytics. The same team that built and reviewed your IFRS 9 methodology now delivers its automation.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THE AUTOMATED IFRS 9 ECL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Why Dupleix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Dupleix Institute  ·  Private &amp; Confidential  ·  MAIIC IFRS 9 ECL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B2545"/>
                </a:solidFill>
                <a:latin typeface="Calibri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We </a:t>
            </a:r>
            <a:r>
              <a:rPr sz="1600" b="1">
                <a:solidFill>
                  <a:srgbClr val="1F2937"/>
                </a:solidFill>
                <a:latin typeface="Calibri"/>
              </a:rPr>
              <a:t>built your methodology</a:t>
            </a:r>
            <a:r>
              <a:rPr sz="1600" b="0">
                <a:solidFill>
                  <a:srgbClr val="1F2937"/>
                </a:solidFill>
                <a:latin typeface="Calibri"/>
              </a:rPr>
              <a:t> — zero re-learning, zero methodological disruption.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Our independent review </a:t>
            </a:r>
            <a:r>
              <a:rPr sz="1600" b="1">
                <a:solidFill>
                  <a:srgbClr val="1F2937"/>
                </a:solidFill>
                <a:latin typeface="Calibri"/>
              </a:rPr>
              <a:t>validated</a:t>
            </a:r>
            <a:r>
              <a:rPr sz="1600" b="0">
                <a:solidFill>
                  <a:srgbClr val="1F2937"/>
                </a:solidFill>
                <a:latin typeface="Calibri"/>
              </a:rPr>
              <a:t> this platform against your Excel model.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Every risk in your review has a </a:t>
            </a:r>
            <a:r>
              <a:rPr sz="1600" b="1">
                <a:solidFill>
                  <a:srgbClr val="1F2937"/>
                </a:solidFill>
                <a:latin typeface="Calibri"/>
              </a:rPr>
              <a:t>named capability</a:t>
            </a:r>
            <a:r>
              <a:rPr sz="1600" b="0">
                <a:solidFill>
                  <a:srgbClr val="1F2937"/>
                </a:solidFill>
                <a:latin typeface="Calibri"/>
              </a:rPr>
              <a:t> in this system.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Local context, IFRS 9 + RBM expertise, and a delivery team that knows MAIIC.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●  </a:t>
            </a:r>
            <a:r>
              <a:rPr sz="1600" b="1">
                <a:solidFill>
                  <a:srgbClr val="1F2937"/>
                </a:solidFill>
                <a:latin typeface="Calibri"/>
              </a:rPr>
              <a:t>Next step:</a:t>
            </a:r>
            <a:r>
              <a:rPr sz="1600" b="0">
                <a:solidFill>
                  <a:srgbClr val="1F2937"/>
                </a:solidFill>
                <a:latin typeface="Calibri"/>
              </a:rPr>
              <a:t> confirm the option, sign the engagement letter, and we begin Stage 1.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DUPLEIX</a:t>
            </a:r>
            <a:r>
              <a:rPr sz="2200" b="1">
                <a:solidFill>
                  <a:srgbClr val="FFFFFF"/>
                </a:solidFill>
                <a:latin typeface="Calibri"/>
              </a:rPr>
              <a:t> INSTITUTE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82065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Risk  |  Strategy  | 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9D2DE"/>
                </a:solidFill>
                <a:latin typeface="Calibri"/>
              </a:rPr>
              <a:t>Let's move MAIIC from spreadsheets to a secure, automated, audit-ready IFRS 9 platform.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Dupleix Institute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www.dupleixinstitute.com  ·  Risk | Strategy | Data Analytics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Private &amp; Confidential — prepared for MAIIC plc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